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0" r:id="rId1"/>
  </p:sldMasterIdLst>
  <p:sldIdLst>
    <p:sldId id="256" r:id="rId2"/>
    <p:sldId id="260" r:id="rId3"/>
    <p:sldId id="257" r:id="rId4"/>
    <p:sldId id="258" r:id="rId5"/>
    <p:sldId id="259" r:id="rId6"/>
    <p:sldId id="262" r:id="rId7"/>
    <p:sldId id="261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4DE8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404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516" y="10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609601"/>
            <a:ext cx="8676222" cy="3200400"/>
          </a:xfrm>
        </p:spPr>
        <p:txBody>
          <a:bodyPr anchor="b">
            <a:normAutofit/>
          </a:bodyPr>
          <a:lstStyle>
            <a:lvl1pPr algn="ctr">
              <a:defRPr sz="480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76222" cy="1905000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2026/5/13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085185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2026/5/13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819426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1013" y="3308581"/>
            <a:ext cx="8686800" cy="1468800"/>
          </a:xfrm>
        </p:spPr>
        <p:txBody>
          <a:bodyPr anchor="b"/>
          <a:lstStyle>
            <a:lvl1pPr algn="r">
              <a:defRPr sz="4000" b="0" cap="all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51011" y="4777381"/>
            <a:ext cx="8686801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2026/5/13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248047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2" y="2666999"/>
            <a:ext cx="4876800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0612" y="2667000"/>
            <a:ext cx="4876800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2026/5/13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349693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29280" y="2658533"/>
            <a:ext cx="4588931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2" y="3243262"/>
            <a:ext cx="4876800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43133" y="2667000"/>
            <a:ext cx="4604280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0612" y="3243262"/>
            <a:ext cx="4876801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2026/5/13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963604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2026/5/13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540624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2026/5/13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861505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3549121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3812" y="609601"/>
            <a:ext cx="5943601" cy="51816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3549121" cy="182880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2026/5/13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812696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5334001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33733" y="-18288"/>
            <a:ext cx="3276599" cy="6903720"/>
          </a:xfr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080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5334001" cy="18288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399212" y="5883275"/>
            <a:ext cx="914400" cy="365125"/>
          </a:xfrm>
        </p:spPr>
        <p:txBody>
          <a:bodyPr/>
          <a:lstStyle/>
          <a:p>
            <a:fld id="{9B9F07B0-025E-4E92-AC39-0EAAEC335187}" type="datetimeFigureOut">
              <a:rPr lang="zh-CN" altLang="en-US" smtClean="0"/>
              <a:t>2026/5/13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2" y="5883275"/>
            <a:ext cx="51054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42612" y="5883275"/>
            <a:ext cx="322567" cy="365125"/>
          </a:xfrm>
        </p:spPr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976862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描述的全景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4732865"/>
            <a:ext cx="99060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796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3" y="5299603"/>
            <a:ext cx="9906000" cy="4937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2026/5/13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288860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标题和描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3124199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2026/5/13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442227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描述的引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buNone/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2026/5/13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8658657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3308581"/>
            <a:ext cx="9906000" cy="14688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0" y="4777381"/>
            <a:ext cx="9906001" cy="86040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2026/5/13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002566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言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886200"/>
            <a:ext cx="9906000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zh-CN" altLang="en-US"/>
              <a:t>单击此处编辑母版文本样式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775200"/>
            <a:ext cx="9906000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2026/5/13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6213719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真或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505200"/>
            <a:ext cx="99060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zh-CN" altLang="en-US"/>
              <a:t>单击此处编辑母版文本样式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2026/5/13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4518560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2026/5/13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4034580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609599"/>
            <a:ext cx="2210514" cy="5181601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2" y="609600"/>
            <a:ext cx="7543800" cy="5181600"/>
          </a:xfrm>
        </p:spPr>
        <p:txBody>
          <a:bodyPr vert="eaVert" anchor="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F07B0-025E-4E92-AC39-0EAAEC335187}" type="datetimeFigureOut">
              <a:rPr lang="zh-CN" altLang="en-US" smtClean="0"/>
              <a:t>2026/5/13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173279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3" y="2666999"/>
            <a:ext cx="9905998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37612" y="5883275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9B9F07B0-025E-4E92-AC39-0EAAEC335187}" type="datetimeFigureOut">
              <a:rPr lang="zh-CN" altLang="en-US" smtClean="0"/>
              <a:t>2026/5/13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2" y="5883275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2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4F792EAD-8BFC-49D2-8246-188E6237F13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7319052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96" r:id="rId6"/>
    <p:sldLayoutId id="2147483697" r:id="rId7"/>
    <p:sldLayoutId id="2147483698" r:id="rId8"/>
    <p:sldLayoutId id="2147483699" r:id="rId9"/>
    <p:sldLayoutId id="2147483700" r:id="rId10"/>
    <p:sldLayoutId id="2147483701" r:id="rId11"/>
    <p:sldLayoutId id="2147483702" r:id="rId12"/>
    <p:sldLayoutId id="2147483703" r:id="rId13"/>
    <p:sldLayoutId id="2147483704" r:id="rId14"/>
    <p:sldLayoutId id="2147483705" r:id="rId15"/>
    <p:sldLayoutId id="2147483706" r:id="rId16"/>
    <p:sldLayoutId id="214748370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200" kern="1200" cap="all">
          <a:ln w="3175" cmpd="sng">
            <a:noFill/>
          </a:ln>
          <a:gradFill flip="none" rotWithShape="1">
            <a:gsLst>
              <a:gs pos="0">
                <a:schemeClr val="tx1"/>
              </a:gs>
              <a:gs pos="100000">
                <a:schemeClr val="tx1">
                  <a:lumMod val="6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65000"/>
                <a:lumOff val="35000"/>
                <a:alpha val="40000"/>
              </a:schemeClr>
            </a:glow>
            <a:outerShdw blurRad="28575" dist="38100" dir="1404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20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8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6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C764576E-AF14-4996-4C93-AA3B19DACFA1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email">
            <a:alphaModFix amt="20000"/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33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l="8008" t="14058" r="8240"/>
          <a:stretch/>
        </p:blipFill>
        <p:spPr>
          <a:xfrm>
            <a:off x="-26065" y="0"/>
            <a:ext cx="12210300" cy="6858000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ED9FBEC6-32C7-2C63-9AC1-2FA2695FFC94}"/>
              </a:ext>
            </a:extLst>
          </p:cNvPr>
          <p:cNvSpPr txBox="1"/>
          <p:nvPr/>
        </p:nvSpPr>
        <p:spPr>
          <a:xfrm>
            <a:off x="1984739" y="1997839"/>
            <a:ext cx="8222522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60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Godot</a:t>
            </a:r>
            <a:r>
              <a:rPr lang="zh-CN" altLang="en-US" sz="60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入门实战</a:t>
            </a:r>
            <a:endParaRPr lang="en-US" altLang="zh-CN" sz="6000" dirty="0">
              <a:solidFill>
                <a:srgbClr val="92D05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pPr algn="ctr"/>
            <a:endParaRPr lang="en-US" altLang="zh-CN" sz="6000" dirty="0">
              <a:solidFill>
                <a:srgbClr val="92D05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pPr algn="ctr"/>
            <a:r>
              <a:rPr lang="en-US" altLang="zh-CN" sz="60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2D</a:t>
            </a:r>
            <a:r>
              <a:rPr lang="zh-CN" altLang="en-US" sz="60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横版过关</a:t>
            </a:r>
            <a:r>
              <a:rPr lang="en-US" altLang="zh-CN" sz="60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--</a:t>
            </a:r>
            <a:r>
              <a:rPr lang="zh-CN" altLang="en-US" sz="60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蛙里奥</a:t>
            </a:r>
          </a:p>
        </p:txBody>
      </p:sp>
    </p:spTree>
    <p:extLst>
      <p:ext uri="{BB962C8B-B14F-4D97-AF65-F5344CB8AC3E}">
        <p14:creationId xmlns:p14="http://schemas.microsoft.com/office/powerpoint/2010/main" val="18683852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13F31137-F07C-E239-8428-30DCDDDD9FE5}"/>
              </a:ext>
            </a:extLst>
          </p:cNvPr>
          <p:cNvSpPr txBox="1"/>
          <p:nvPr/>
        </p:nvSpPr>
        <p:spPr>
          <a:xfrm>
            <a:off x="1984739" y="1997839"/>
            <a:ext cx="8222522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60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我是谁？</a:t>
            </a:r>
            <a:endParaRPr lang="en-US" altLang="zh-CN" sz="6000" dirty="0">
              <a:solidFill>
                <a:srgbClr val="92D05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pPr algn="ctr"/>
            <a:endParaRPr lang="en-US" altLang="zh-CN" sz="6000" dirty="0">
              <a:solidFill>
                <a:srgbClr val="92D05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pPr algn="ctr"/>
            <a:r>
              <a:rPr lang="en-US" altLang="zh-CN" sz="60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U3D</a:t>
            </a:r>
            <a:r>
              <a:rPr lang="zh-CN" altLang="en-US" sz="60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最后一届太监</a:t>
            </a:r>
          </a:p>
        </p:txBody>
      </p:sp>
    </p:spTree>
    <p:extLst>
      <p:ext uri="{BB962C8B-B14F-4D97-AF65-F5344CB8AC3E}">
        <p14:creationId xmlns:p14="http://schemas.microsoft.com/office/powerpoint/2010/main" val="18343165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2761E924-6DD3-5235-85EF-E9FA61E1CB15}"/>
              </a:ext>
            </a:extLst>
          </p:cNvPr>
          <p:cNvSpPr txBox="1"/>
          <p:nvPr/>
        </p:nvSpPr>
        <p:spPr>
          <a:xfrm>
            <a:off x="3336204" y="1722682"/>
            <a:ext cx="610963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什么人适合看本系列视频？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C02E2CB1-F66A-1951-6330-D1FA1CA89399}"/>
              </a:ext>
            </a:extLst>
          </p:cNvPr>
          <p:cNvSpPr txBox="1"/>
          <p:nvPr/>
        </p:nvSpPr>
        <p:spPr>
          <a:xfrm>
            <a:off x="3336205" y="2718463"/>
            <a:ext cx="748567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1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、最好有一定编程能力（会</a:t>
            </a:r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C#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最好）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8322389-AAD8-4545-0565-08D77D3F1DEF}"/>
              </a:ext>
            </a:extLst>
          </p:cNvPr>
          <p:cNvSpPr txBox="1"/>
          <p:nvPr/>
        </p:nvSpPr>
        <p:spPr>
          <a:xfrm>
            <a:off x="3336204" y="3554443"/>
            <a:ext cx="748567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2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、想学</a:t>
            </a:r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Godot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引擎做游戏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DC652C0-BE7A-D298-A124-C9A19275C9BF}"/>
              </a:ext>
            </a:extLst>
          </p:cNvPr>
          <p:cNvSpPr txBox="1"/>
          <p:nvPr/>
        </p:nvSpPr>
        <p:spPr>
          <a:xfrm>
            <a:off x="3336203" y="4390423"/>
            <a:ext cx="748567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3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、小白也能跟着学，事后需要补编程基础</a:t>
            </a:r>
          </a:p>
        </p:txBody>
      </p:sp>
    </p:spTree>
    <p:extLst>
      <p:ext uri="{BB962C8B-B14F-4D97-AF65-F5344CB8AC3E}">
        <p14:creationId xmlns:p14="http://schemas.microsoft.com/office/powerpoint/2010/main" val="1091187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47D2341F-2B8E-4FB2-0695-6B207A177C99}"/>
              </a:ext>
            </a:extLst>
          </p:cNvPr>
          <p:cNvSpPr txBox="1"/>
          <p:nvPr/>
        </p:nvSpPr>
        <p:spPr>
          <a:xfrm>
            <a:off x="770557" y="1438596"/>
            <a:ext cx="82402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项目主要涉及内容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277896A4-3230-27BE-47CD-904B012D88B7}"/>
              </a:ext>
            </a:extLst>
          </p:cNvPr>
          <p:cNvSpPr txBox="1"/>
          <p:nvPr/>
        </p:nvSpPr>
        <p:spPr>
          <a:xfrm>
            <a:off x="770557" y="2318966"/>
            <a:ext cx="10956846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官网资源使用、界面基础操作和基本概念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UI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面板制作、角色控制、声音控制、瓦片地图编辑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怪物定点巡逻、简单陷阱、移动平台、积分排行榜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本地存储的两种方式、游戏打包等相关知识讲解和实际运用</a:t>
            </a:r>
          </a:p>
        </p:txBody>
      </p:sp>
    </p:spTree>
    <p:extLst>
      <p:ext uri="{BB962C8B-B14F-4D97-AF65-F5344CB8AC3E}">
        <p14:creationId xmlns:p14="http://schemas.microsoft.com/office/powerpoint/2010/main" val="40418218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6C5FC534-61DE-ADC8-9767-EF115A0EB6B3}"/>
              </a:ext>
            </a:extLst>
          </p:cNvPr>
          <p:cNvSpPr txBox="1"/>
          <p:nvPr/>
        </p:nvSpPr>
        <p:spPr>
          <a:xfrm>
            <a:off x="333490" y="2354920"/>
            <a:ext cx="1132970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授课方式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C3E55C02-D364-05EC-1EA5-457046D49854}"/>
              </a:ext>
            </a:extLst>
          </p:cNvPr>
          <p:cNvSpPr txBox="1"/>
          <p:nvPr/>
        </p:nvSpPr>
        <p:spPr>
          <a:xfrm>
            <a:off x="519922" y="3282800"/>
            <a:ext cx="10956846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实战为主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pPr algn="ctr"/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pPr algn="ctr"/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以实现最终效果为目的，来讲解知识点</a:t>
            </a:r>
          </a:p>
        </p:txBody>
      </p:sp>
    </p:spTree>
    <p:extLst>
      <p:ext uri="{BB962C8B-B14F-4D97-AF65-F5344CB8AC3E}">
        <p14:creationId xmlns:p14="http://schemas.microsoft.com/office/powerpoint/2010/main" val="15414707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AC12814D-EC78-197C-8196-ADA0CECD2525}"/>
              </a:ext>
            </a:extLst>
          </p:cNvPr>
          <p:cNvSpPr txBox="1"/>
          <p:nvPr/>
        </p:nvSpPr>
        <p:spPr>
          <a:xfrm>
            <a:off x="431145" y="1600318"/>
            <a:ext cx="1132970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项目仓库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10388AB9-3CCA-C9EB-2A53-E0AC2EB3A6EF}"/>
              </a:ext>
            </a:extLst>
          </p:cNvPr>
          <p:cNvSpPr txBox="1"/>
          <p:nvPr/>
        </p:nvSpPr>
        <p:spPr>
          <a:xfrm>
            <a:off x="2623929" y="2723507"/>
            <a:ext cx="80381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码云：</a:t>
            </a:r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gitee.com/</a:t>
            </a:r>
            <a:r>
              <a:rPr lang="en-US" altLang="zh-CN" sz="2800" dirty="0" err="1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MarsPGY</a:t>
            </a:r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/</a:t>
            </a:r>
            <a:r>
              <a:rPr lang="en-US" altLang="zh-CN" sz="2800" dirty="0" err="1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godot</a:t>
            </a:r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-study</a:t>
            </a:r>
            <a:endParaRPr lang="zh-CN" altLang="en-US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EA1F519-0CAC-EDF3-AB21-E28CADE9EAC7}"/>
              </a:ext>
            </a:extLst>
          </p:cNvPr>
          <p:cNvSpPr txBox="1"/>
          <p:nvPr/>
        </p:nvSpPr>
        <p:spPr>
          <a:xfrm>
            <a:off x="2623928" y="3562728"/>
            <a:ext cx="84037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dirty="0" err="1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github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：</a:t>
            </a:r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github.com/PGYangel/GodotStudy</a:t>
            </a:r>
            <a:endParaRPr lang="zh-CN" altLang="en-US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5832659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EBECD328-B2F8-80E0-1A31-664832E7D7E1}"/>
              </a:ext>
            </a:extLst>
          </p:cNvPr>
          <p:cNvSpPr txBox="1"/>
          <p:nvPr/>
        </p:nvSpPr>
        <p:spPr>
          <a:xfrm>
            <a:off x="431145" y="3136612"/>
            <a:ext cx="1132970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官方网站使用</a:t>
            </a:r>
          </a:p>
        </p:txBody>
      </p:sp>
    </p:spTree>
    <p:extLst>
      <p:ext uri="{BB962C8B-B14F-4D97-AF65-F5344CB8AC3E}">
        <p14:creationId xmlns:p14="http://schemas.microsoft.com/office/powerpoint/2010/main" val="17290112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554D73CC-3D9E-5031-F6AB-9A203031D5C6}"/>
              </a:ext>
            </a:extLst>
          </p:cNvPr>
          <p:cNvSpPr txBox="1"/>
          <p:nvPr/>
        </p:nvSpPr>
        <p:spPr>
          <a:xfrm>
            <a:off x="956988" y="2131054"/>
            <a:ext cx="82402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02</a:t>
            </a:r>
            <a:r>
              <a:rPr lang="zh-CN" altLang="en-US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、引擎界面和基础概念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B3C33742-6777-FE1E-55A3-C1EC227125F5}"/>
              </a:ext>
            </a:extLst>
          </p:cNvPr>
          <p:cNvSpPr txBox="1"/>
          <p:nvPr/>
        </p:nvSpPr>
        <p:spPr>
          <a:xfrm>
            <a:off x="956988" y="3357653"/>
            <a:ext cx="10956846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创建项目：</a:t>
            </a:r>
            <a:r>
              <a:rPr lang="en-US" altLang="zh-CN" sz="2800" dirty="0" err="1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FrogGame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熟悉编辑器功能区域分区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8037873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9E52FB64-C882-34FF-37FE-34E0A07533D7}"/>
              </a:ext>
            </a:extLst>
          </p:cNvPr>
          <p:cNvSpPr txBox="1"/>
          <p:nvPr/>
        </p:nvSpPr>
        <p:spPr>
          <a:xfrm>
            <a:off x="912600" y="897058"/>
            <a:ext cx="82402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03</a:t>
            </a:r>
            <a:r>
              <a:rPr lang="zh-CN" altLang="en-US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、开始场景布置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EC9BEC87-186F-6A2E-A492-0862E4A01576}"/>
              </a:ext>
            </a:extLst>
          </p:cNvPr>
          <p:cNvSpPr txBox="1"/>
          <p:nvPr/>
        </p:nvSpPr>
        <p:spPr>
          <a:xfrm>
            <a:off x="912600" y="2123657"/>
            <a:ext cx="10956846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熟悉坐标系、项目中纹理渲染模式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开始场景主元素的布置：背景、按钮、动画元素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按钮事件的两种绑定方式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序列帧动画制作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2444790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A21C86B8-DA19-02EB-A308-CDA3C27C60E1}"/>
              </a:ext>
            </a:extLst>
          </p:cNvPr>
          <p:cNvSpPr txBox="1"/>
          <p:nvPr/>
        </p:nvSpPr>
        <p:spPr>
          <a:xfrm>
            <a:off x="912600" y="897058"/>
            <a:ext cx="82402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04</a:t>
            </a:r>
            <a:r>
              <a:rPr lang="zh-CN" altLang="en-US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、设置面板布局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7E37C123-3B14-9D57-7B59-167FE31C4419}"/>
              </a:ext>
            </a:extLst>
          </p:cNvPr>
          <p:cNvSpPr txBox="1"/>
          <p:nvPr/>
        </p:nvSpPr>
        <p:spPr>
          <a:xfrm>
            <a:off x="912600" y="2123657"/>
            <a:ext cx="10956846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全局自动化加载使用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运行时节点视图：远程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Layer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层级的概念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en-US" altLang="zh-CN" sz="2800" dirty="0" err="1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NinePatchRect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节点九宫格渲染图片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Button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节点使用</a:t>
            </a:r>
            <a:r>
              <a:rPr lang="en-US" altLang="zh-CN" sz="2800" dirty="0" err="1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StyleBoxTexture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实现九宫格渲染底图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6740058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F106E657-9145-AEE1-B2E0-F2A4EB6B63B2}"/>
              </a:ext>
            </a:extLst>
          </p:cNvPr>
          <p:cNvSpPr txBox="1"/>
          <p:nvPr/>
        </p:nvSpPr>
        <p:spPr>
          <a:xfrm>
            <a:off x="912600" y="897058"/>
            <a:ext cx="82402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05</a:t>
            </a:r>
            <a:r>
              <a:rPr lang="zh-CN" altLang="en-US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、面板控制单例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86570EB3-7342-9C5D-B2CD-B1E565A85806}"/>
              </a:ext>
            </a:extLst>
          </p:cNvPr>
          <p:cNvSpPr txBox="1"/>
          <p:nvPr/>
        </p:nvSpPr>
        <p:spPr>
          <a:xfrm>
            <a:off x="912600" y="2123657"/>
            <a:ext cx="10956846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从根节点检索节点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写成</a:t>
            </a:r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Instance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和不写的区别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用枚举维护</a:t>
            </a:r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UI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面板名称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0664463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0FF5AE81-9620-A0E3-E4E3-53A013512F3E}"/>
              </a:ext>
            </a:extLst>
          </p:cNvPr>
          <p:cNvSpPr txBox="1"/>
          <p:nvPr/>
        </p:nvSpPr>
        <p:spPr>
          <a:xfrm>
            <a:off x="912600" y="897058"/>
            <a:ext cx="82402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06</a:t>
            </a:r>
            <a:r>
              <a:rPr lang="zh-CN" altLang="en-US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、声音控制单例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54877CCA-35F4-1A54-D0AB-6E55D77E31B2}"/>
              </a:ext>
            </a:extLst>
          </p:cNvPr>
          <p:cNvSpPr txBox="1"/>
          <p:nvPr/>
        </p:nvSpPr>
        <p:spPr>
          <a:xfrm>
            <a:off x="912600" y="2123657"/>
            <a:ext cx="10956846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dirty="0" err="1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AudioStreamPlayer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节点的使用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设置声音循环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动态加载声音资源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en-US" altLang="zh-CN" sz="2800" dirty="0" err="1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Mathf.LinearToDb</a:t>
            </a:r>
            <a:r>
              <a:rPr lang="zh-CN" altLang="en-US" sz="280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音量转换方法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1251504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DDE1A02C-3F61-6695-B04D-0F750013A1A9}"/>
              </a:ext>
            </a:extLst>
          </p:cNvPr>
          <p:cNvSpPr txBox="1"/>
          <p:nvPr/>
        </p:nvSpPr>
        <p:spPr>
          <a:xfrm>
            <a:off x="912600" y="897058"/>
            <a:ext cx="82402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07</a:t>
            </a:r>
            <a:r>
              <a:rPr lang="zh-CN" altLang="en-US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、声音事件绑定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A2DDD5A7-0AC4-8748-D025-F89ED5D1CB62}"/>
              </a:ext>
            </a:extLst>
          </p:cNvPr>
          <p:cNvSpPr txBox="1"/>
          <p:nvPr/>
        </p:nvSpPr>
        <p:spPr>
          <a:xfrm>
            <a:off x="912600" y="2123657"/>
            <a:ext cx="1095684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无新知识点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8748137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27C11B8D-673C-6D95-E542-C0FB6B245A95}"/>
              </a:ext>
            </a:extLst>
          </p:cNvPr>
          <p:cNvSpPr txBox="1"/>
          <p:nvPr/>
        </p:nvSpPr>
        <p:spPr>
          <a:xfrm>
            <a:off x="912600" y="897058"/>
            <a:ext cx="82402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08</a:t>
            </a:r>
            <a:r>
              <a:rPr lang="zh-CN" altLang="en-US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、设置数据保存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875DA5CC-B7D0-63FD-5A64-4C544ECC6362}"/>
              </a:ext>
            </a:extLst>
          </p:cNvPr>
          <p:cNvSpPr txBox="1"/>
          <p:nvPr/>
        </p:nvSpPr>
        <p:spPr>
          <a:xfrm>
            <a:off x="912600" y="2123657"/>
            <a:ext cx="10956846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dirty="0" err="1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ConfigFile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的使用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en-US" altLang="zh-CN" sz="2800" dirty="0" err="1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SetValue</a:t>
            </a:r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()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、</a:t>
            </a:r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Save()</a:t>
            </a: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Load()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、</a:t>
            </a:r>
            <a:r>
              <a:rPr lang="en-US" altLang="zh-CN" sz="2800" dirty="0" err="1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GetValue</a:t>
            </a:r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()</a:t>
            </a: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本地存储数据使用</a:t>
            </a:r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user://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地址进行存储，不使用</a:t>
            </a:r>
            <a:r>
              <a:rPr lang="en-US" altLang="zh-CN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res://</a:t>
            </a:r>
          </a:p>
        </p:txBody>
      </p:sp>
    </p:spTree>
    <p:extLst>
      <p:ext uri="{BB962C8B-B14F-4D97-AF65-F5344CB8AC3E}">
        <p14:creationId xmlns:p14="http://schemas.microsoft.com/office/powerpoint/2010/main" val="16215359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65F3CB4C-57ED-BBFC-8966-CC9F954E519D}"/>
              </a:ext>
            </a:extLst>
          </p:cNvPr>
          <p:cNvSpPr txBox="1"/>
          <p:nvPr/>
        </p:nvSpPr>
        <p:spPr>
          <a:xfrm>
            <a:off x="912600" y="897058"/>
            <a:ext cx="824027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09</a:t>
            </a:r>
            <a:r>
              <a:rPr lang="zh-CN" altLang="en-US" sz="3200" dirty="0">
                <a:solidFill>
                  <a:srgbClr val="92D05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、瓦片地图编辑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43BE741C-2E27-3C4F-3D79-35B6377251CA}"/>
              </a:ext>
            </a:extLst>
          </p:cNvPr>
          <p:cNvSpPr txBox="1"/>
          <p:nvPr/>
        </p:nvSpPr>
        <p:spPr>
          <a:xfrm>
            <a:off x="912600" y="2123657"/>
            <a:ext cx="10956846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dirty="0" err="1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TileMapLayer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节点的使用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新增物理层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en-US" altLang="zh-CN" sz="2800" dirty="0" err="1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TileSet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面板设置碰撞面积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  <a:p>
            <a:r>
              <a:rPr lang="en-US" altLang="zh-CN" sz="2800" dirty="0" err="1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TileMap</a:t>
            </a:r>
            <a:r>
              <a:rPr lang="zh-CN" altLang="en-US" sz="2800" dirty="0">
                <a:solidFill>
                  <a:srgbClr val="FFC000"/>
                </a:solidFill>
                <a:latin typeface="思源黑体 CN Heavy" panose="020B0A00000000000000" pitchFamily="34" charset="-122"/>
                <a:ea typeface="思源黑体 CN Heavy" panose="020B0A00000000000000" pitchFamily="34" charset="-122"/>
              </a:rPr>
              <a:t>面板布置瓦片地图</a:t>
            </a:r>
            <a:endParaRPr lang="en-US" altLang="zh-CN" sz="2800" dirty="0">
              <a:solidFill>
                <a:srgbClr val="FFC000"/>
              </a:solidFill>
              <a:latin typeface="思源黑体 CN Heavy" panose="020B0A00000000000000" pitchFamily="34" charset="-122"/>
              <a:ea typeface="思源黑体 CN Heavy" panose="020B0A00000000000000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21478953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网状">
  <a:themeElements>
    <a:clrScheme name="网状">
      <a:dk1>
        <a:sysClr val="windowText" lastClr="000000"/>
      </a:dk1>
      <a:lt1>
        <a:sysClr val="window" lastClr="FFFFFF"/>
      </a:lt1>
      <a:dk2>
        <a:srgbClr val="363D46"/>
      </a:dk2>
      <a:lt2>
        <a:srgbClr val="EBEBEB"/>
      </a:lt2>
      <a:accent1>
        <a:srgbClr val="6F6F6F"/>
      </a:accent1>
      <a:accent2>
        <a:srgbClr val="BFBFA5"/>
      </a:accent2>
      <a:accent3>
        <a:srgbClr val="DCD084"/>
      </a:accent3>
      <a:accent4>
        <a:srgbClr val="E7BF5F"/>
      </a:accent4>
      <a:accent5>
        <a:srgbClr val="E9A039"/>
      </a:accent5>
      <a:accent6>
        <a:srgbClr val="CF7133"/>
      </a:accent6>
      <a:hlink>
        <a:srgbClr val="F28943"/>
      </a:hlink>
      <a:folHlink>
        <a:srgbClr val="F1B76C"/>
      </a:folHlink>
    </a:clrScheme>
    <a:fontScheme name="网状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网状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84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50800" dist="25400" dir="13500000">
              <a:srgbClr val="000000">
                <a:alpha val="5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25400" h="25400" prst="slope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28000"/>
                <a:satMod val="94000"/>
                <a:lumMod val="20000"/>
              </a:schemeClr>
              <a:schemeClr val="phClr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sh" id="{789EC3FE-34FD-429C-9918-760025E6C145}" vid="{B8BE45C0-8141-4D58-8C71-A009BC26FBBB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TM03457485[[fn=网状]]</Template>
  <TotalTime>1726</TotalTime>
  <Words>357</Words>
  <Application>Microsoft Office PowerPoint</Application>
  <PresentationFormat>宽屏</PresentationFormat>
  <Paragraphs>80</Paragraphs>
  <Slides>15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19" baseType="lpstr">
      <vt:lpstr>思源黑体 CN Heavy</vt:lpstr>
      <vt:lpstr>Arial</vt:lpstr>
      <vt:lpstr>Century Gothic</vt:lpstr>
      <vt:lpstr>网状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angel PGY</dc:creator>
  <cp:lastModifiedBy>angel PGY</cp:lastModifiedBy>
  <cp:revision>86</cp:revision>
  <dcterms:created xsi:type="dcterms:W3CDTF">2026-04-23T16:16:42Z</dcterms:created>
  <dcterms:modified xsi:type="dcterms:W3CDTF">2026-05-13T03:43:45Z</dcterms:modified>
</cp:coreProperties>
</file>